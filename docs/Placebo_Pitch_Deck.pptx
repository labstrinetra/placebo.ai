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Phase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25-44F9-A923-9F7EC086C948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25-44F9-A923-9F7EC086C948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25-44F9-A923-9F7EC086C9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25-44F9-A923-9F7EC086C9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25-44F9-A923-9F7EC086C9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25-44F9-A923-9F7EC086C9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Pre-Clinical (18%)</c:v>
                </c:pt>
                <c:pt idx="1">
                  <c:v>Para-Clinical (20%)</c:v>
                </c:pt>
                <c:pt idx="2">
                  <c:v>Clinical (62%)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20</c:v>
                </c:pt>
                <c:pt idx="2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825-44F9-A923-9F7EC086C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A1628"/>
                </a:solidFill>
                <a:latin typeface="Arial"/>
              </a:rPr>
              <a:t>PDFs per Subject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PDFs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Pharmacology</c:v>
                </c:pt>
                <c:pt idx="1">
                  <c:v>Pharmaceutics</c:v>
                </c:pt>
                <c:pt idx="2">
                  <c:v>Medicinal Chem</c:v>
                </c:pt>
                <c:pt idx="3">
                  <c:v>Clinical Pharm</c:v>
                </c:pt>
                <c:pt idx="4">
                  <c:v>Pharm Analysis</c:v>
                </c:pt>
                <c:pt idx="5">
                  <c:v>Pharmacognosy</c:v>
                </c:pt>
                <c:pt idx="6">
                  <c:v>Anatomy &amp; Phys</c:v>
                </c:pt>
                <c:pt idx="7">
                  <c:v>Microbiology</c:v>
                </c:pt>
                <c:pt idx="8">
                  <c:v>Biochemistry</c:v>
                </c:pt>
                <c:pt idx="9">
                  <c:v>Biopharmaceu.</c:v>
                </c:pt>
                <c:pt idx="10">
                  <c:v>Industrial Ph.</c:v>
                </c:pt>
                <c:pt idx="11">
                  <c:v>Hospital Ph.</c:v>
                </c:pt>
                <c:pt idx="12">
                  <c:v>Pharm. Jurisp.</c:v>
                </c:pt>
                <c:pt idx="13">
                  <c:v>Pharmacovigi.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22</c:v>
                </c:pt>
                <c:pt idx="1">
                  <c:v>18</c:v>
                </c:pt>
                <c:pt idx="2">
                  <c:v>16</c:v>
                </c:pt>
                <c:pt idx="3">
                  <c:v>15</c:v>
                </c:pt>
                <c:pt idx="4">
                  <c:v>14</c:v>
                </c:pt>
                <c:pt idx="5">
                  <c:v>14</c:v>
                </c:pt>
                <c:pt idx="6">
                  <c:v>12</c:v>
                </c:pt>
                <c:pt idx="7">
                  <c:v>12</c:v>
                </c:pt>
                <c:pt idx="8">
                  <c:v>10</c:v>
                </c:pt>
                <c:pt idx="9">
                  <c:v>10</c:v>
                </c:pt>
                <c:pt idx="10">
                  <c:v>12</c:v>
                </c:pt>
                <c:pt idx="11">
                  <c:v>10</c:v>
                </c:pt>
                <c:pt idx="12">
                  <c:v>8</c:v>
                </c:pt>
                <c:pt idx="1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69-4927-A7A7-7D7DB38C77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839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platform and highlight the scale of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medical education suffers from information overload and fragmented access to quality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core pillars of the Placebo platform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sheer scale of the content repository and what it means for institutional purchasing.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breadth and depth of the MBBS curriculum, especially the clinical phase dominance.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pharmacy curriculum depth and the 450,000+ drug interactions indexed.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academic credibility of the source material — only globally mandated, peer-reviewed textbooks.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benefits for each stakeholder group. Emphasize that all three groups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directly address procurement committees. Emphasize cost consolidation and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5-year roadmap to show long-term value. Connect ROI to procurement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vision and a clear call to action. Ask for next steps — demo or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B9AA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365760"/>
            <a:ext cx="2560320" cy="2560320"/>
          </a:xfrm>
          <a:prstGeom prst="ellipse">
            <a:avLst/>
          </a:prstGeom>
          <a:solidFill>
            <a:srgbClr val="1B9AA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5029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11887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89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600" dirty="0">
                <a:solidFill>
                  <a:srgbClr val="FFFFFF"/>
                </a:solidFill>
              </a:rPr>
              <a:t>PLACEBO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146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1B9AAA"/>
                </a:solidFill>
              </a:rPr>
              <a:t>EDUCATION SOLUTIONS</a:t>
            </a:r>
            <a:endParaRPr lang="en-US" b="1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Most Comprehensive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Academic Knowledge Repository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9AAA"/>
                </a:solidFill>
              </a:rPr>
              <a:t>for Medical &amp; Pharmacy Education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3657600" cy="36576"/>
          </a:xfrm>
          <a:prstGeom prst="rect">
            <a:avLst/>
          </a:prstGeom>
          <a:solidFill>
            <a:srgbClr val="1B9AA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0" y="1463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9AAA"/>
                </a:solidFill>
              </a:rPr>
              <a:t>350+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961120" y="2240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PDFs Ingested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0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</a:rPr>
              <a:t>250K+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961120" y="3611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Pages Analyzed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97706"/>
                </a:solidFill>
              </a:rPr>
              <a:t>1.2M+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961120" y="4983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Academic 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INDUSTRY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0" y="256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1B9AAA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</a:rPr>
              <a:t>Medical &amp; Pharmacy students are drowning in data — but starved for accessible knowledge.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611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965960"/>
            <a:ext cx="402336" cy="40233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99339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Fragmented Materials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46888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Study resources scattered across dozens of physical books and unconnected digital formats, with no unified access point.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97096" y="1828800"/>
            <a:ext cx="3611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1965960"/>
            <a:ext cx="402336" cy="40233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55464" y="199339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Low Search Efficiency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246888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Hours spent flipping through 1,000-page textbooks to find a single clinical definition or dosage chart.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28432" y="1828800"/>
            <a:ext cx="3611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965960"/>
            <a:ext cx="402336" cy="40233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8" name="Text 16"/>
          <p:cNvSpPr/>
          <p:nvPr/>
        </p:nvSpPr>
        <p:spPr>
          <a:xfrm>
            <a:off x="8193024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⚠️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199339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Unverified Notes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93024" y="246888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Students increasingly rely on scattered, unvetted notes rather than peer-reviewed standard textbooks.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3611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3630168"/>
            <a:ext cx="402336" cy="40233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3657600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High Institutional Cost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13308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Institutions pay significant overheads for fragmented digital library subscriptions with low utilization rates.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97096" y="3493008"/>
            <a:ext cx="3611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61688" y="3630168"/>
            <a:ext cx="402336" cy="40233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8" name="Text 26"/>
          <p:cNvSpPr/>
          <p:nvPr/>
        </p:nvSpPr>
        <p:spPr>
          <a:xfrm>
            <a:off x="4361688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📉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55464" y="3657600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Academic Inconsistency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413308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Different students access different quality resources, creating unequal academic baselines across the cohort.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28432" y="3493008"/>
            <a:ext cx="3611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93024" y="3630168"/>
            <a:ext cx="402336" cy="40233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33" name="Text 31"/>
          <p:cNvSpPr/>
          <p:nvPr/>
        </p:nvSpPr>
        <p:spPr>
          <a:xfrm>
            <a:off x="8193024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⏰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686800" y="3657600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Wasted Faculty Time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93024" y="413308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Educators spend excessive hours gathering authoritative materials for curriculum planning and lecture preparation.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1B9AA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9AAA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Placebo Academic Repository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 singular, institutional-grade knowledge platform that transforms how medical sciences are studied.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5394960" cy="1664208"/>
          </a:xfrm>
          <a:prstGeom prst="rect">
            <a:avLst/>
          </a:prstGeom>
          <a:solidFill>
            <a:srgbClr val="0E346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26334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9AAA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651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Centralized Knowledge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09067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Every standard textbook, reference manual, and clinical guide in one unified platform.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468880"/>
            <a:ext cx="5394960" cy="1664208"/>
          </a:xfrm>
          <a:prstGeom prst="rect">
            <a:avLst/>
          </a:prstGeom>
          <a:solidFill>
            <a:srgbClr val="0E346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26334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9AAA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95160" y="2651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Curriculum-Aligned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309067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Content mapped to University and Medical Council syllabi — semester by semester.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343400"/>
            <a:ext cx="5394960" cy="1664208"/>
          </a:xfrm>
          <a:prstGeom prst="rect">
            <a:avLst/>
          </a:prstGeom>
          <a:solidFill>
            <a:srgbClr val="0E346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" y="45079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9AAA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4440" y="4526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Instant Retrieval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96519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Find the exact page, diagram, or clinical definition in seconds, not hours.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343400"/>
            <a:ext cx="5394960" cy="1664208"/>
          </a:xfrm>
          <a:prstGeom prst="rect">
            <a:avLst/>
          </a:prstGeom>
          <a:solidFill>
            <a:srgbClr val="0E346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91072" y="45079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9AAA"/>
                </a:solidFill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95160" y="4526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Gold-Standard Sources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496519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Exclusively peer-reviewed, globally mandated textbooks — zero unverified content.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PLATFORM 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1B9AAA"/>
                </a:solidFill>
              </a:rPr>
              <a:t>COMBINED REPOSITORY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The ultimate healthcare education platform — MBBS + Pharmacy, unified under one roof.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3547872" cy="19019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828800"/>
            <a:ext cx="3328416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AAA"/>
                </a:solidFill>
              </a:rPr>
              <a:t>34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898282"/>
            <a:ext cx="33649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Total Subjects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Covered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87952" y="1719072"/>
            <a:ext cx="3547872" cy="19019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828800"/>
            <a:ext cx="3328416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520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79392" y="2898282"/>
            <a:ext cx="33649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Total PDFs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Ingested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10144" y="1719072"/>
            <a:ext cx="3547872" cy="19019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19872" y="1828800"/>
            <a:ext cx="3328416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</a:rPr>
              <a:t>346K+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01584" y="2898282"/>
            <a:ext cx="33649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Total Pages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Analyzed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867912"/>
            <a:ext cx="3547872" cy="19019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3977640"/>
            <a:ext cx="3328416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</a:rPr>
              <a:t>49.3 GB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5047122"/>
            <a:ext cx="33649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Total Content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Size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87952" y="3867912"/>
            <a:ext cx="3547872" cy="19019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0" y="3977640"/>
            <a:ext cx="3328416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</a:rPr>
              <a:t>1.2M+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279392" y="5047122"/>
            <a:ext cx="33649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Academic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References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10144" y="3867912"/>
            <a:ext cx="3547872" cy="19019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3977640"/>
            <a:ext cx="3328416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72B6"/>
                </a:solidFill>
              </a:rPr>
              <a:t>250K+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01584" y="5047122"/>
            <a:ext cx="336499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Data Points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Indexed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4572000" cy="4572000"/>
          </a:xfrm>
          <a:prstGeom prst="ellipse">
            <a:avLst/>
          </a:prstGeom>
          <a:solidFill>
            <a:srgbClr val="1B9AAA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9AAA"/>
                </a:solidFill>
              </a:rPr>
              <a:t>MBBS CURRICULUM COVERAGE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19 Subjects · 324 PDFs · 211,050 Pages · 31.5 GB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11880" cy="1005840"/>
          </a:xfrm>
          <a:prstGeom prst="rect">
            <a:avLst/>
          </a:prstGeom>
          <a:solidFill>
            <a:srgbClr val="0E3460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9AAA"/>
                </a:solidFill>
              </a:rPr>
              <a:t>38,450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" y="1938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Pre-Clinical Pages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0248" y="1417320"/>
            <a:ext cx="3611880" cy="1005840"/>
          </a:xfrm>
          <a:prstGeom prst="rect">
            <a:avLst/>
          </a:prstGeom>
          <a:solidFill>
            <a:srgbClr val="0E3460"/>
          </a:solidFill>
          <a:ln/>
        </p:spPr>
      </p:sp>
      <p:sp>
        <p:nvSpPr>
          <p:cNvPr id="9" name="Text 7"/>
          <p:cNvSpPr/>
          <p:nvPr/>
        </p:nvSpPr>
        <p:spPr>
          <a:xfrm>
            <a:off x="4379976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42,000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79976" y="1938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Para-Clinical Pages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74736" y="1417320"/>
            <a:ext cx="3611880" cy="1005840"/>
          </a:xfrm>
          <a:prstGeom prst="rect">
            <a:avLst/>
          </a:prstGeom>
          <a:solidFill>
            <a:srgbClr val="0E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8284464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</a:rPr>
              <a:t>130,600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84464" y="1938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Clinical Pages</a:t>
            </a:r>
            <a:endParaRPr lang="en-US" sz="10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274320" y="2606040"/>
          <a:ext cx="4114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606040"/>
          <a:ext cx="7223760" cy="38404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Subject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PDFs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Pages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Anatomy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15,200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Physiology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12,450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Biochemistry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10,800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Pathology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16,500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Pharmacology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14,200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General Medicine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22,000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General Surgery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28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20,500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OB &amp; Gynecology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15,600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Pediatrics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13,400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PHARMACY CURRICULUM COVERAGE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961120" y="256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1B9AAA"/>
                </a:solidFill>
              </a:rPr>
              <a:t>PHARM.D &amp; B.PHARM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15 Subjects · 196 PDFs · 135,500 Pages · 17.8 GB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64208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645920"/>
            <a:ext cx="4297680" cy="914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07808" y="1755648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AAA"/>
                </a:solidFill>
              </a:rPr>
              <a:t>15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589520" y="2212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Pharmacy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Disciplines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498080" y="2715768"/>
            <a:ext cx="4297680" cy="914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07808" y="2825496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196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589520" y="32826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Total PDFs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Ingested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98080" y="3785616"/>
            <a:ext cx="4297680" cy="914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07808" y="3895344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</a:rPr>
              <a:t>135K+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589520" y="43525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Total Pages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Analyzed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498080" y="4855464"/>
            <a:ext cx="4297680" cy="914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607808" y="4965192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</a:rPr>
              <a:t>450K+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589520" y="5422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Drug Interactions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&amp; Profiles Indexed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4114800" cy="4114800"/>
          </a:xfrm>
          <a:prstGeom prst="ellipse">
            <a:avLst/>
          </a:prstGeom>
          <a:solidFill>
            <a:srgbClr val="1B9AAA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9AAA"/>
                </a:solidFill>
              </a:rPr>
              <a:t>TEXTBOOK COVERAGE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Built on Gold-Standard Academic 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Zero reliance on unverified internet data. Every reference is globally mandated and peer-reviewed.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5577840" cy="4480560"/>
          </a:xfrm>
          <a:prstGeom prst="rect">
            <a:avLst/>
          </a:prstGeom>
          <a:solidFill>
            <a:srgbClr val="0E346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874520"/>
            <a:ext cx="5577840" cy="4572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0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MBBS CORE REFERENCES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AAA"/>
                </a:solidFill>
              </a:rPr>
              <a:t>Anatomy: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487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Gray's Anatomy, BD Chaurasia, AK Datta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AAA"/>
                </a:solidFill>
              </a:rPr>
              <a:t>Physiology: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3017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Guyton &amp; Hall, Ganong, GK Pal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AAA"/>
                </a:solidFill>
              </a:rPr>
              <a:t>Pathology: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547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Robbins &amp; Cotran Pathologic Basis of Disease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0782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AAA"/>
                </a:solidFill>
              </a:rPr>
              <a:t>Medicine: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40782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Harrison's Principles of Internal Medicine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6085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AAA"/>
                </a:solidFill>
              </a:rPr>
              <a:t>Surgery: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4608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Bailey &amp; Love's Short Practice of Surgery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51389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AAA"/>
                </a:solidFill>
              </a:rPr>
              <a:t>Community Med: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5138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Park's Textbook of Preventive &amp; Social Medicine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AAA"/>
                </a:solidFill>
              </a:rPr>
              <a:t>Pediatrics: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5669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Nelson Textbook of Pediatrics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874520"/>
            <a:ext cx="5577840" cy="4480560"/>
          </a:xfrm>
          <a:prstGeom prst="rect">
            <a:avLst/>
          </a:prstGeom>
          <a:solidFill>
            <a:srgbClr val="0E346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874520"/>
            <a:ext cx="55778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920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PHARMACY CORE REFERENCES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General Pharmacy: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24871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Remington: Science &amp; Practice of Pharmacy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Pharmacology: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Goodman &amp; Gilman's Pharmacology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3547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Pharmacology: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0" y="3547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Katzung Basic &amp; Clinical Pharmacology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40782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Pharmaceutics: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0" y="40782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Lachman's Theory &amp; Practice (Industrial)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46085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Physical Pharm: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460857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Martin's Physical Pharmacy &amp; Pharm Sciences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0" y="51389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Pharmacognosy: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63840" y="5138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Trease and Evans Pharmacognosy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0800" y="5669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Medicinal Chem: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63840" y="5669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Foye's Principles of Medicinal Chemistry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IMPACT &amp; BENEFITS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1B9AAA"/>
                </a:solidFill>
              </a:rPr>
              <a:t>WHO BENEFITS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639312" cy="5486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5214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👨🎓 Students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2084832"/>
            <a:ext cx="128016" cy="12801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83664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Consolidates hours of library searching into seconds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752344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" y="3026664"/>
            <a:ext cx="128016" cy="12801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25496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Multiple textbook perspectives on complex topics simultaneously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694176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" y="3968496"/>
            <a:ext cx="128016" cy="12801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67328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Streamlined exam preparation with grouped curriculum concepts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636008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4910328"/>
            <a:ext cx="128016" cy="12801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709160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Study time focused on understanding, not finding materials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5577840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" y="5852160"/>
            <a:ext cx="128016" cy="12801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650992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Better clinical preparedness and higher pass rates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70248" y="1115568"/>
            <a:ext cx="3639312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361688" y="115214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🏫 Faculty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70248" y="1810512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98264" y="208483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1883664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Instant access to authoritative diagrams and texts for lectures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70248" y="2752344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98264" y="302666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590288" y="2825496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Massive, unified digital library available from the faculty desk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70248" y="3694176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98264" y="396849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590288" y="3767328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Easier syllabus tracking across multiple standard texts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70248" y="4636008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98264" y="491032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590288" y="4709160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Ensures all students study from the same high-quality baseline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70248" y="5577840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98264" y="585216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590288" y="5650992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Reduces lecture-prep overhead significantly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174736" y="1115568"/>
            <a:ext cx="3639312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8266176" y="115214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🏛️ Institutions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74736" y="1810512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302752" y="2084832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8494776" y="1883664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Elevates overall standard of education provided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74736" y="2752344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02752" y="3026664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8494776" y="2825496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Equal access to expensive textbooks for all enrolled students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174736" y="3694176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302752" y="3968496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8494776" y="3767328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Demonstrates digital learning investment for accreditation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74736" y="4636008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302752" y="491032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8494776" y="4709160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Reduces multiple fragmented digital library subscriptions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74736" y="5577840"/>
            <a:ext cx="363931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302752" y="5852160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5" name="Text 53"/>
          <p:cNvSpPr/>
          <p:nvPr/>
        </p:nvSpPr>
        <p:spPr>
          <a:xfrm>
            <a:off x="8494776" y="5650992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Correlates with better student outcomes &amp; exam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828800"/>
            <a:ext cx="4572000" cy="4572000"/>
          </a:xfrm>
          <a:prstGeom prst="ellipse">
            <a:avLst/>
          </a:prstGeom>
          <a:solidFill>
            <a:srgbClr val="1B9AA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9AAA"/>
                </a:solidFill>
              </a:rPr>
              <a:t>PLACEBO vs TRADITIONAL LIBRARY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Institutions Choose Placebo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453542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Traditional Library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Placebo Platform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</a:rPr>
                        <a:t>Accessibility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Limited by physical copies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9AAA"/>
                          </a:solidFill>
                        </a:rPr>
                        <a:t>Infinite concurrent users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</a:rPr>
                        <a:t>Searchability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Manual index scanning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9AAA"/>
                          </a:solidFill>
                        </a:rPr>
                        <a:t>Instant digital retrieval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</a:rPr>
                        <a:t>Subject Coverage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Fragmented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9AAA"/>
                          </a:solidFill>
                        </a:rPr>
                        <a:t>34 Unified Subjects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</a:rPr>
                        <a:t>Total Pages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Physically bound volumes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9AAA"/>
                          </a:solidFill>
                        </a:rPr>
                        <a:t>346,550 Fully Indexed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</a:rPr>
                        <a:t>References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Static, non-searchable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9AAA"/>
                          </a:solidFill>
                        </a:rPr>
                        <a:t>1.2M+ Dynamic &amp; Linked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</a:rPr>
                        <a:t>Cost Model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High per-volume overhead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9AAA"/>
                          </a:solidFill>
                        </a:rPr>
                        <a:t>Single institutional license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</a:rPr>
                        <a:t>Updates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New editions require purchase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9AAA"/>
                          </a:solidFill>
                        </a:rPr>
                        <a:t>Continuously expanded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CONTENT GROWTH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0" y="256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1B9AAA"/>
                </a:solidFill>
              </a:rPr>
              <a:t>5-YEAR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881360" cy="54864"/>
          </a:xfrm>
          <a:prstGeom prst="rect">
            <a:avLst/>
          </a:prstGeom>
          <a:solidFill>
            <a:srgbClr val="1B9AA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53312" y="2633472"/>
            <a:ext cx="402336" cy="402336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7" name="Text 5"/>
          <p:cNvSpPr/>
          <p:nvPr/>
        </p:nvSpPr>
        <p:spPr>
          <a:xfrm>
            <a:off x="135331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1945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2194560" cy="32918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161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5727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Core Baseline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86537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MBBS &amp; B.Pharm curriculum fully ingested — 520 PDFs, 346K pages live.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9AAA"/>
                </a:solidFill>
              </a:rPr>
              <a:t>Year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85032" y="263347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8503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88920" y="1188720"/>
            <a:ext cx="21945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88920" y="1188720"/>
            <a:ext cx="219456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2862072" y="12161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15727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Allied Health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80360" y="186537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Expansion into Nursing, Physiotherapy, and Allied Health Sciences curricula.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8892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Year 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16752" y="2633472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01675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1188720"/>
            <a:ext cx="21945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1188720"/>
            <a:ext cx="219456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5193792" y="12161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15727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Postgraduate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0" y="186537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MD / MS specialty content including advanced clinical subspecialties.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Year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48472" y="2633472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834847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52360" y="1188720"/>
            <a:ext cx="21945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52360" y="1188720"/>
            <a:ext cx="2194560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7525512" y="12161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43800" y="15727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Research Layer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543800" y="186537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Peer-reviewed journal integration and clinical trial database access.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5236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Year 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680192" y="2633472"/>
            <a:ext cx="402336" cy="40233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9" name="Text 37"/>
          <p:cNvSpPr/>
          <p:nvPr/>
        </p:nvSpPr>
        <p:spPr>
          <a:xfrm>
            <a:off x="1068019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784080" y="1188720"/>
            <a:ext cx="21945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784080" y="1188720"/>
            <a:ext cx="2194560" cy="32918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2" name="Text 40"/>
          <p:cNvSpPr/>
          <p:nvPr/>
        </p:nvSpPr>
        <p:spPr>
          <a:xfrm>
            <a:off x="9857232" y="12161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 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875520" y="15727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Live Clinical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875520" y="1865376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Real-time updates, hospital formulary integration, and live clinical references.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78408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</a:rPr>
              <a:t>Year 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37033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1628"/>
                </a:solidFill>
              </a:rPr>
              <a:t>INSTITUTIONAL ROI HIGHLIGHTS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4133088"/>
            <a:ext cx="2633472" cy="22860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422452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57200" y="475488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AAA"/>
                </a:solidFill>
              </a:rPr>
              <a:t>Cost Reduction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5093208"/>
            <a:ext cx="24505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Consolidates multiple library subscriptions into one institutional license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18688" y="4133088"/>
            <a:ext cx="2633472" cy="22860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310128" y="422452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3310128" y="475488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AAA"/>
                </a:solidFill>
              </a:rPr>
              <a:t>Time Saved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10128" y="5093208"/>
            <a:ext cx="24505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Returns thousands of faculty &amp; student hours annually to active learning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71616" y="4133088"/>
            <a:ext cx="2633472" cy="22860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163056" y="422452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163056" y="475488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AAA"/>
                </a:solidFill>
              </a:rPr>
              <a:t>Pass Rates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163056" y="5093208"/>
            <a:ext cx="24505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Direct correlation between resource access and improved exam performance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924544" y="4133088"/>
            <a:ext cx="2633472" cy="22860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015984" y="422452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9015984" y="475488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AAA"/>
                </a:solidFill>
              </a:rPr>
              <a:t>Accreditation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015984" y="5093208"/>
            <a:ext cx="24505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Demonstrates digital investment to accreditation bodies and regulatory councils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7315200" cy="7315200"/>
          </a:xfrm>
          <a:prstGeom prst="ellipse">
            <a:avLst/>
          </a:prstGeom>
          <a:solidFill>
            <a:srgbClr val="1B9AA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4572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B9AA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02920"/>
            <a:ext cx="54864" cy="11887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600" dirty="0">
                <a:solidFill>
                  <a:srgbClr val="FFFFFF"/>
                </a:solidFill>
              </a:rPr>
              <a:t>PLACEBO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B9AAA"/>
                </a:solidFill>
              </a:rPr>
              <a:t>EDUCATION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</a:rPr>
              <a:t>A single, comprehensive academic repository covering the complete</a:t>
            </a:r>
            <a:endParaRPr lang="en-US" sz="2000" dirty="0"/>
          </a:p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</a:rPr>
              <a:t>spectrum of MBBS and Pharmacy education — structured,</a:t>
            </a:r>
            <a:endParaRPr lang="en-US" sz="2000" dirty="0"/>
          </a:p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</a:rPr>
              <a:t>curriculum-aligned, and built for institutional scale.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4114800" cy="36576"/>
          </a:xfrm>
          <a:prstGeom prst="rect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Bridge the gap between heavy traditional textbooks 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the modern demand for instant, verified medical knowledge.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709160"/>
            <a:ext cx="5943600" cy="1691640"/>
          </a:xfrm>
          <a:prstGeom prst="rect">
            <a:avLst/>
          </a:prstGeom>
          <a:solidFill>
            <a:srgbClr val="1B9AA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846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Ready to Partner?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32180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1"/>
                </a:solidFill>
              </a:rPr>
              <a:t>Contact Placebo Education Solutions to schedule an institutional demo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1"/>
                </a:solidFill>
              </a:rPr>
              <a:t>and explore partnership models tailored to your institution.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3657600"/>
            <a:ext cx="2331720" cy="1188720"/>
          </a:xfrm>
          <a:prstGeom prst="rect">
            <a:avLst/>
          </a:prstGeom>
          <a:solidFill>
            <a:srgbClr val="0E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37307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9AAA"/>
                </a:solidFill>
              </a:rPr>
              <a:t>34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0" y="43159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Subjects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0" y="3657600"/>
            <a:ext cx="2331720" cy="1188720"/>
          </a:xfrm>
          <a:prstGeom prst="rect">
            <a:avLst/>
          </a:prstGeom>
          <a:solidFill>
            <a:srgbClr val="0E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37307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9AAA"/>
                </a:solidFill>
              </a:rPr>
              <a:t>520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18320" y="43159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PDFs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5029200"/>
            <a:ext cx="2331720" cy="1188720"/>
          </a:xfrm>
          <a:prstGeom prst="rect">
            <a:avLst/>
          </a:prstGeom>
          <a:solidFill>
            <a:srgbClr val="0E346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51023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9AAA"/>
                </a:solidFill>
              </a:rPr>
              <a:t>49.3 GB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0" y="56875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Content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26880" y="5029200"/>
            <a:ext cx="2331720" cy="1188720"/>
          </a:xfrm>
          <a:prstGeom prst="rect">
            <a:avLst/>
          </a:prstGeom>
          <a:solidFill>
            <a:srgbClr val="0E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0" y="51023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9AAA"/>
                </a:solidFill>
              </a:rPr>
              <a:t>1.2M+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418320" y="56875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References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1135</Words>
  <Application>Microsoft Office PowerPoint</Application>
  <PresentationFormat>Widescreen</PresentationFormat>
  <Paragraphs>284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Placebo Academic Repository – Pitch Deck</dc:title>
  <dc:subject>PptxGenJS Presentation</dc:subject>
  <dc:creator>PptxGenJS</dc:creator>
  <cp:lastModifiedBy>RUDRA joshi</cp:lastModifiedBy>
  <cp:revision>2</cp:revision>
  <dcterms:created xsi:type="dcterms:W3CDTF">2026-06-10T16:23:30Z</dcterms:created>
  <dcterms:modified xsi:type="dcterms:W3CDTF">2026-06-10T16:27:28Z</dcterms:modified>
</cp:coreProperties>
</file>